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5F533B-5695-4CEF-A5DE-26C473E36C4D}">
  <a:tblStyle styleId="{F15F533B-5695-4CEF-A5DE-26C473E36C4D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22" Type="http://schemas.openxmlformats.org/officeDocument/2006/relationships/font" Target="fonts/MontserratMedium-bold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Medium-italic.fntdata"/><Relationship Id="rId13" Type="http://schemas.openxmlformats.org/officeDocument/2006/relationships/slide" Target="slides/slide7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6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Medium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0ce6eb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0ce6e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495300" y="2504182"/>
            <a:ext cx="1120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Teste A/B: Landing Page</a:t>
            </a:r>
            <a:endParaRPr b="1" sz="6000">
              <a:solidFill>
                <a:srgbClr val="6E0AD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524500" y="3618607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762000" y="3980557"/>
            <a:ext cx="106680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28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Resultados consolidados com significância estatística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34691"/>
            <a:ext cx="5048250" cy="268381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761925" y="2068440"/>
            <a:ext cx="5048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54,3%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762000" y="4063302"/>
            <a:ext cx="5048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 Variante A superou a Variante B em eficiência de conversão por visitante único</a:t>
            </a:r>
            <a:r>
              <a:rPr lang="en-US" sz="165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762750" y="2972841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7853B"/>
                </a:solidFill>
                <a:latin typeface="Montserrat"/>
                <a:ea typeface="Montserrat"/>
                <a:cs typeface="Montserrat"/>
                <a:sym typeface="Montserrat"/>
              </a:rPr>
              <a:t>Confiança Máxima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762750" y="3439566"/>
            <a:ext cx="42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Nível de confiança superior a </a:t>
            </a: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99,93%</a:t>
            </a:r>
            <a:r>
              <a:rPr b="0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(P-valor: 0,0007).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762750" y="4169122"/>
            <a:ext cx="428625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Isso significa que o resultado reflete um padrão real de comportamento, eliminando flutuações sazonais ou de volume.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Variante A é a Vencedora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62000" y="571500"/>
            <a:ext cx="76200" cy="514350"/>
          </a:xfrm>
          <a:prstGeom prst="rect">
            <a:avLst/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E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5133" y="79733"/>
            <a:ext cx="46899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E0AD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LANDING </a:t>
            </a:r>
            <a:r>
              <a:rPr lang="en-US" sz="2100">
                <a:solidFill>
                  <a:srgbClr val="6E0AD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PAGES </a:t>
            </a:r>
            <a:r>
              <a:rPr lang="en-US" sz="2100">
                <a:solidFill>
                  <a:srgbClr val="6E0AD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| </a:t>
            </a:r>
            <a:r>
              <a:rPr lang="en-US" sz="2100">
                <a:solidFill>
                  <a:srgbClr val="F28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</a:t>
            </a:r>
            <a:endParaRPr sz="2100">
              <a:solidFill>
                <a:srgbClr val="F28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4033" y="501060"/>
            <a:ext cx="4338000" cy="5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Landing Page: </a:t>
            </a: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LP Anuncie ZAP 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Estratégico: </a:t>
            </a: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gerar MQLs para o time comercial vender planos profissionais para novos anunciantes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Ação:</a:t>
            </a: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Mudar exibição do formulário trazendo o texto hero com mais destaque a partir de bench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Métricas: </a:t>
            </a: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teste a/b para medir aumento de geração de MQL e conversão em SQL e vendas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Período</a:t>
            </a:r>
            <a:r>
              <a:rPr b="1"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17/03 a 23/03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Resultados 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- A variante A superou a variante B em eficiência de conversão por visitante único.</a:t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300" y="512069"/>
            <a:ext cx="3336367" cy="154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3395" y="512069"/>
            <a:ext cx="3369364" cy="1546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6"/>
          <p:cNvCxnSpPr/>
          <p:nvPr/>
        </p:nvCxnSpPr>
        <p:spPr>
          <a:xfrm rot="10800000">
            <a:off x="3271500" y="3576185"/>
            <a:ext cx="1978800" cy="387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6E0AD6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6"/>
          <p:cNvCxnSpPr>
            <a:endCxn id="111" idx="1"/>
          </p:cNvCxnSpPr>
          <p:nvPr/>
        </p:nvCxnSpPr>
        <p:spPr>
          <a:xfrm flipH="1" rot="10800000">
            <a:off x="3769200" y="1285558"/>
            <a:ext cx="1481100" cy="12951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6E0AD6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15" name="Google Shape;115;p16" title="image (1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9867" y="2855305"/>
            <a:ext cx="3336368" cy="1829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9628" r="7659" t="0"/>
          <a:stretch/>
        </p:blipFill>
        <p:spPr>
          <a:xfrm>
            <a:off x="5099300" y="2855300"/>
            <a:ext cx="3336364" cy="18293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486767" y="2434744"/>
            <a:ext cx="249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Versão A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133620" y="2466982"/>
            <a:ext cx="249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Versão B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165133" y="5231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{F15F533B-5695-4CEF-A5DE-26C473E36C4D}</a:tableStyleId>
              </a:tblPr>
              <a:tblGrid>
                <a:gridCol w="1955300"/>
                <a:gridCol w="1736400"/>
                <a:gridCol w="1393475"/>
                <a:gridCol w="2086875"/>
              </a:tblGrid>
              <a:tr h="29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Variante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A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Visitantes (Únicos)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A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MQLs Gerados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A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Taxa de Conversão (CR)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0AD6"/>
                    </a:solidFill>
                  </a:tcPr>
                </a:tc>
              </a:tr>
              <a:tr h="29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57853B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Variante A (Campeã)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E5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57853B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3.488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E5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57853B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E5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57853B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4,44%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E563"/>
                    </a:solidFill>
                  </a:tcPr>
                </a:tc>
              </a:tr>
              <a:tr h="22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333333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Variante B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333333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3.161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333333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 u="none" cap="none" strike="noStrike">
                          <a:solidFill>
                            <a:srgbClr val="333333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2,88%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3875" marB="33875" marR="84675" marL="8467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66850"/>
            <a:ext cx="10668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762000" y="473005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A Variante A é 1.5x mais eficiente na conversão de tráfego em </a:t>
            </a:r>
            <a:r>
              <a:rPr b="1" lang="en-US" sz="1650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MQL</a:t>
            </a:r>
            <a:r>
              <a:rPr b="1" i="0" lang="en-US" sz="165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Eficiência de Conversão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762000" y="571500"/>
            <a:ext cx="76200" cy="514350"/>
          </a:xfrm>
          <a:prstGeom prst="rect">
            <a:avLst/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66850"/>
            <a:ext cx="10668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6045875" y="5541625"/>
            <a:ext cx="189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200" u="none" cap="none" strike="noStrike">
                <a:solidFill>
                  <a:srgbClr val="F28000"/>
                </a:solidFill>
                <a:latin typeface="Montserrat"/>
                <a:ea typeface="Montserrat"/>
                <a:cs typeface="Montserrat"/>
                <a:sym typeface="Montserrat"/>
              </a:rPr>
              <a:t>Variante B</a:t>
            </a:r>
            <a:endParaRPr/>
          </a:p>
        </p:txBody>
      </p:sp>
      <p:pic>
        <p:nvPicPr>
          <p:cNvPr descr="image.png" id="136" name="Google Shape;1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7275" y="55578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55578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Evolução Diária de MQLs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62000" y="571500"/>
            <a:ext cx="76200" cy="514350"/>
          </a:xfrm>
          <a:prstGeom prst="rect">
            <a:avLst/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4572000" y="5541625"/>
            <a:ext cx="189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 Variante </a:t>
            </a:r>
            <a:r>
              <a:rPr b="1" lang="en-US" sz="1200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>
              <a:solidFill>
                <a:srgbClr val="6E0AD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51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95857"/>
            <a:ext cx="5191125" cy="2459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95857"/>
            <a:ext cx="5191125" cy="24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1143000" y="2534007"/>
            <a:ext cx="46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Alto Engajamento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143000" y="3000732"/>
            <a:ext cx="44292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 Versão A gera maior engajamento, com média de 1,58 sessões por visitante contra 1,25 na B.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619875" y="2534007"/>
            <a:ext cx="46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Desejo</a:t>
            </a:r>
            <a:r>
              <a:rPr b="1" i="0" lang="en-US" sz="21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1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de Retorno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619875" y="3000732"/>
            <a:ext cx="44292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O design estimula o retorno do usuário para a conversão, mesmo quando esta não ocorre no primeiro contato.</a:t>
            </a:r>
            <a:endParaRPr b="1"/>
          </a:p>
        </p:txBody>
      </p:sp>
      <p:pic>
        <p:nvPicPr>
          <p:cNvPr descr="image.png" id="152" name="Google Shape;15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256258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256258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952500" y="571500"/>
            <a:ext cx="11001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Fatores hipotéticos que explicam a melhor performance da versão A</a:t>
            </a:r>
            <a:endParaRPr sz="400"/>
          </a:p>
        </p:txBody>
      </p:sp>
      <p:sp>
        <p:nvSpPr>
          <p:cNvPr id="155" name="Google Shape;155;p19"/>
          <p:cNvSpPr/>
          <p:nvPr/>
        </p:nvSpPr>
        <p:spPr>
          <a:xfrm>
            <a:off x="762000" y="571500"/>
            <a:ext cx="76200" cy="514500"/>
          </a:xfrm>
          <a:prstGeom prst="rect">
            <a:avLst/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495300" y="2504182"/>
            <a:ext cx="11201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Próximos Passos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524500" y="3618607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762000" y="3980557"/>
            <a:ext cx="106680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28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Qualidade do funil e plano de escalonamento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1143000" y="2227064"/>
            <a:ext cx="102870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Desativar Variante B: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Pausar o tráfego imediatamente, dado o alcance precoce da significância estatística.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1143000" y="3051869"/>
            <a:ext cx="102870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Escalonamento 100%: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Direcionar todo o tráfego para a Variante A para maximizar a captação de MQLs no curto prazo.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952500" y="571500"/>
            <a:ext cx="11001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E0AD6"/>
                </a:solidFill>
                <a:latin typeface="Montserrat"/>
                <a:ea typeface="Montserrat"/>
                <a:cs typeface="Montserrat"/>
                <a:sym typeface="Montserrat"/>
              </a:rPr>
              <a:t>Recomendações Imediatas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762000" y="571500"/>
            <a:ext cx="76200" cy="514500"/>
          </a:xfrm>
          <a:prstGeom prst="rect">
            <a:avLst/>
          </a:prstGeom>
          <a:solidFill>
            <a:srgbClr val="F2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0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3281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